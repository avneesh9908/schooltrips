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822960"/>
            <a:ext cx="10607040" cy="5212080"/>
          </a:xfrm>
          <a:prstGeom prst="roundRect">
            <a:avLst>
              <a:gd name="adj" fmla="val 5000"/>
            </a:avLst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rebuchet MS"/>
              </a:rPr>
              <a:t>GRADE 7  ·  PARENT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509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Trebuchet MS"/>
              </a:rPr>
              <a:t>Jaipur · Abhaneri ·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Trebuchet MS"/>
              </a:rPr>
              <a:t>Ranthambore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Trebuchet MS"/>
              </a:rPr>
              <a:t>Educational 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rebuchet MS"/>
              </a:rPr>
              <a:t>Batch 1:  12–19 December 2026        Batch 2:  13–20 December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67066"/>
                </a:solidFill>
                <a:latin typeface="Trebuchet MS"/>
              </a:rPr>
              <a:t>Sample deck — dummy content for demonstration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DESTINATIONS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22303F"/>
                </a:solidFill>
                <a:latin typeface="Trebuchet MS"/>
              </a:rPr>
              <a:t>Where the students are going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423160"/>
            <a:ext cx="502920" cy="146304"/>
          </a:xfrm>
          <a:prstGeom prst="round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>
                <a:solidFill>
                  <a:srgbClr val="22303F"/>
                </a:solidFill>
                <a:latin typeface="Trebuchet MS"/>
              </a:rPr>
              <a:t>Jaipur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2697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767066"/>
                </a:solidFill>
                <a:latin typeface="Trebuchet MS"/>
              </a:rPr>
              <a:t>Amer Fort, Jantar Mantar and the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767066"/>
                </a:solidFill>
                <a:latin typeface="Trebuchet MS"/>
              </a:rPr>
              <a:t>old city's water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423160"/>
            <a:ext cx="502920" cy="146304"/>
          </a:xfrm>
          <a:prstGeom prst="roundRect">
            <a:avLst/>
          </a:prstGeom>
          <a:solidFill>
            <a:srgbClr val="FF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>
                <a:solidFill>
                  <a:srgbClr val="22303F"/>
                </a:solidFill>
                <a:latin typeface="Trebuchet MS"/>
              </a:rPr>
              <a:t>Abhaneri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37560"/>
            <a:ext cx="2697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767066"/>
                </a:solidFill>
                <a:latin typeface="Trebuchet MS"/>
              </a:rPr>
              <a:t>Chand Baori stepwell — a hands-on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767066"/>
                </a:solidFill>
                <a:latin typeface="Trebuchet MS"/>
              </a:rPr>
              <a:t>measurement and geometry exercise.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10312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2423160"/>
            <a:ext cx="502920" cy="146304"/>
          </a:xfrm>
          <a:prstGeom prst="roundRect">
            <a:avLst/>
          </a:prstGeom>
          <a:solidFill>
            <a:srgbClr val="4CA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>
                <a:solidFill>
                  <a:srgbClr val="22303F"/>
                </a:solidFill>
                <a:latin typeface="Trebuchet MS"/>
              </a:rPr>
              <a:t>Ranthambore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337560"/>
            <a:ext cx="2697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767066"/>
                </a:solidFill>
                <a:latin typeface="Trebuchet MS"/>
              </a:rPr>
              <a:t>Guided safari, habitat mapping and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767066"/>
                </a:solidFill>
                <a:latin typeface="Trebuchet MS"/>
              </a:rPr>
              <a:t>field notes at the camp.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GETTING THERE AND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22303F"/>
                </a:solidFill>
                <a:latin typeface="Trebuchet MS"/>
              </a:rPr>
              <a:t>Travel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07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82296" cy="1828800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134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ONWARD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303F"/>
                </a:solidFill>
                <a:latin typeface="Trebuchet MS"/>
              </a:rPr>
              <a:t>MMCT JAIPUR SF (12955)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91256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3AC — coach and seat allotment shared a week before.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Report at the platform 60 minutes before departure.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2432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800" b="1">
                <a:solidFill>
                  <a:srgbClr val="22303F"/>
                </a:solidFill>
                <a:latin typeface="Trebuchet MS"/>
              </a:rPr>
              <a:t>Departs 10:30 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14800"/>
            <a:ext cx="10607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14800"/>
            <a:ext cx="82296" cy="1828800"/>
          </a:xfrm>
          <a:prstGeom prst="rect">
            <a:avLst/>
          </a:prstGeom>
          <a:solidFill>
            <a:srgbClr val="FF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708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100"/>
                </a:solidFill>
                <a:latin typeface="Trebuchet MS"/>
              </a:rPr>
              <a:t>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1830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2303F"/>
                </a:solidFill>
                <a:latin typeface="Trebuchet MS"/>
              </a:rPr>
              <a:t>JP BDTS EXP (12980)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48656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Overnight 3AC.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767066"/>
                </a:solidFill>
                <a:latin typeface="Trebuchet MS"/>
              </a:rPr>
              <a:t>Arrives Surat the following morning.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68172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800" b="1">
                <a:solidFill>
                  <a:srgbClr val="22303F"/>
                </a:solidFill>
                <a:latin typeface="Trebuchet MS"/>
              </a:rPr>
              <a:t>Departs 8:20 PM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22303F"/>
                </a:solidFill>
                <a:latin typeface="Trebuchet MS"/>
              </a:rPr>
              <a:t>Day by day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93976"/>
            <a:ext cx="182880" cy="182880"/>
          </a:xfrm>
          <a:prstGeom prst="ellipse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011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2303F"/>
                </a:solidFill>
                <a:latin typeface="Trebuchet MS"/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1168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67066"/>
                </a:solidFill>
                <a:latin typeface="Trebuchet MS"/>
              </a:rPr>
              <a:t>Depart Mumbai Central, 10:30 PM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60904"/>
            <a:ext cx="182880" cy="182880"/>
          </a:xfrm>
          <a:prstGeom prst="ellipse">
            <a:avLst/>
          </a:prstGeom>
          <a:solidFill>
            <a:srgbClr val="FF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7860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2303F"/>
                </a:solidFill>
                <a:latin typeface="Trebuchet MS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578608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67066"/>
                </a:solidFill>
                <a:latin typeface="Trebuchet MS"/>
              </a:rPr>
              <a:t>Arrive Jaipur · check in · orientation walk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27832"/>
            <a:ext cx="182880" cy="182880"/>
          </a:xfrm>
          <a:prstGeom prst="ellipse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1455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2303F"/>
                </a:solidFill>
                <a:latin typeface="Trebuchet MS"/>
              </a:rPr>
              <a:t>Day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145536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67066"/>
                </a:solidFill>
                <a:latin typeface="Trebuchet MS"/>
              </a:rPr>
              <a:t>Amer Fort, Jantar Mantar, stepwell study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94760"/>
            <a:ext cx="182880" cy="182880"/>
          </a:xfrm>
          <a:prstGeom prst="ellipse">
            <a:avLst/>
          </a:prstGeom>
          <a:solidFill>
            <a:srgbClr val="FF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71246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2303F"/>
                </a:solidFill>
                <a:latin typeface="Trebuchet MS"/>
              </a:rPr>
              <a:t>Day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712464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67066"/>
                </a:solidFill>
                <a:latin typeface="Trebuchet MS"/>
              </a:rPr>
              <a:t>Chand Baori measurement exercise, Abhaneri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361688"/>
            <a:ext cx="182880" cy="182880"/>
          </a:xfrm>
          <a:prstGeom prst="ellipse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27939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2303F"/>
                </a:solidFill>
                <a:latin typeface="Trebuchet MS"/>
              </a:rPr>
              <a:t>Day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27939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67066"/>
                </a:solidFill>
                <a:latin typeface="Trebuchet MS"/>
              </a:rPr>
              <a:t>Dawn safari and habitat mapping, Ranthambore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928616"/>
            <a:ext cx="182880" cy="182880"/>
          </a:xfrm>
          <a:prstGeom prst="ellipse">
            <a:avLst/>
          </a:prstGeom>
          <a:solidFill>
            <a:srgbClr val="FF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8463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2303F"/>
                </a:solidFill>
                <a:latin typeface="Trebuchet MS"/>
              </a:rPr>
              <a:t>Day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84632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67066"/>
                </a:solidFill>
                <a:latin typeface="Trebuchet MS"/>
              </a:rPr>
              <a:t>Project work and student presentations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495544"/>
            <a:ext cx="182880" cy="182880"/>
          </a:xfrm>
          <a:prstGeom prst="ellipse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41324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2303F"/>
                </a:solidFill>
                <a:latin typeface="Trebuchet MS"/>
              </a:rPr>
              <a:t>Day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413248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767066"/>
                </a:solidFill>
                <a:latin typeface="Trebuchet MS"/>
              </a:rPr>
              <a:t>Board the return train, 8:20 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767066"/>
                </a:solidFill>
                <a:latin typeface="Trebuchet MS"/>
              </a:rPr>
              <a:t>The full hour-by-hour itinerary is linked on the trip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HOW WE LOOK AFTER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22303F"/>
                </a:solidFill>
                <a:latin typeface="Trebuchet MS"/>
              </a:rPr>
              <a:t>Safety and supervision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51663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663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One accompanying adult for every 12 students.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An adult is with the students at all times, including washroom breaks.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Two dedicated Safety Monitors travel with each batch.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Headcount at every stop and at regular intervals.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77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A trained medical person and first-aid facility at the campsite at all times.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Nearest police station and hospital details held by the Safety Monitor.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All staff and vendors trained under POCSO, with signed undertakings.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26C0B0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Daily health check at the end of each day, plus WhatsApp updates to parents.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BEFORE YOU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22303F"/>
                </a:solidFill>
                <a:latin typeface="Trebuchet MS"/>
              </a:rPr>
              <a:t>Do's and don'ts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51663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663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CAF6D"/>
                </a:solidFill>
                <a:latin typeface="Trebuchet MS"/>
              </a:rPr>
              <a:t>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6B5B"/>
                </a:solidFill>
                <a:latin typeface="Trebuchet MS"/>
              </a:rPr>
              <a:t>DON'T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Hand any regular medicine to the Safety Monitor a day before, at the bus stop, with clear written instructions.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•  </a:t>
            </a:r>
            <a:r>
              <a:rPr sz="1400">
                <a:solidFill>
                  <a:srgbClr val="22303F"/>
                </a:solidFill>
                <a:latin typeface="Trebuchet MS"/>
              </a:rPr>
              <a:t>Tell the accompanying teacher about any medical history that needs personal attention.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788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FF6B5B"/>
                </a:solidFill>
                <a:latin typeface="Trebuchet MS"/>
              </a:rPr>
              <a:t>✕  </a:t>
            </a:r>
            <a:r>
              <a:rPr sz="1400">
                <a:solidFill>
                  <a:srgbClr val="22303F"/>
                </a:solidFill>
                <a:latin typeface="Trebuchet MS"/>
              </a:rPr>
              <a:t>Students may not carry personal medicines — staff carry a first-aid box.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FF6B5B"/>
                </a:solidFill>
                <a:latin typeface="Trebuchet MS"/>
              </a:rPr>
              <a:t>✕  </a:t>
            </a:r>
            <a:r>
              <a:rPr sz="1400">
                <a:solidFill>
                  <a:srgbClr val="22303F"/>
                </a:solidFill>
                <a:latin typeface="Trebuchet MS"/>
              </a:rPr>
              <a:t>No mobile phones, smart watches or other gadgets. These will be confiscated if found.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22303F"/>
                </a:solidFill>
                <a:latin typeface="Trebuchet MS"/>
              </a:rPr>
              <a:t>What to pack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07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□  </a:t>
            </a:r>
            <a:r>
              <a:rPr sz="1400">
                <a:solidFill>
                  <a:srgbClr val="22303F"/>
                </a:solidFill>
                <a:latin typeface="Trebuchet MS"/>
              </a:rPr>
              <a:t>Original School ID and Aadhar card (mandatory)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□  </a:t>
            </a:r>
            <a:r>
              <a:rPr sz="1400">
                <a:solidFill>
                  <a:srgbClr val="22303F"/>
                </a:solidFill>
                <a:latin typeface="Trebuchet MS"/>
              </a:rPr>
              <a:t>Clothes for 7 days — full pants, full-sleeve tops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□  </a:t>
            </a:r>
            <a:r>
              <a:rPr sz="1400">
                <a:solidFill>
                  <a:srgbClr val="22303F"/>
                </a:solidFill>
                <a:latin typeface="Trebuchet MS"/>
              </a:rPr>
              <a:t>Sweater / fleece jacket / thermals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□  </a:t>
            </a:r>
            <a:r>
              <a:rPr sz="1400">
                <a:solidFill>
                  <a:srgbClr val="22303F"/>
                </a:solidFill>
                <a:latin typeface="Trebuchet MS"/>
              </a:rPr>
              <a:t>Heavy woolens, shawl or light blanket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□  </a:t>
            </a:r>
            <a:r>
              <a:rPr sz="1400">
                <a:solidFill>
                  <a:srgbClr val="22303F"/>
                </a:solidFill>
                <a:latin typeface="Trebuchet MS"/>
              </a:rPr>
              <a:t>Night 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□  </a:t>
            </a:r>
            <a:r>
              <a:rPr sz="1400">
                <a:solidFill>
                  <a:srgbClr val="22303F"/>
                </a:solidFill>
                <a:latin typeface="Trebuchet MS"/>
              </a:rPr>
              <a:t>Sport or trekking shoes (compulsory)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□  </a:t>
            </a:r>
            <a:r>
              <a:rPr sz="1400">
                <a:solidFill>
                  <a:srgbClr val="22303F"/>
                </a:solidFill>
                <a:latin typeface="Trebuchet MS"/>
              </a:rPr>
              <a:t>Sandals or slippers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□  </a:t>
            </a:r>
            <a:r>
              <a:rPr sz="1400">
                <a:solidFill>
                  <a:srgbClr val="22303F"/>
                </a:solidFill>
                <a:latin typeface="Trebuchet MS"/>
              </a:rPr>
              <a:t>Water bottle and a shoulder bag for it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□  </a:t>
            </a:r>
            <a:r>
              <a:rPr sz="1400">
                <a:solidFill>
                  <a:srgbClr val="22303F"/>
                </a:solidFill>
                <a:latin typeface="Trebuchet MS"/>
              </a:rPr>
              <a:t>Towel, napkin, cap, bandana, cotton socks, gloves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4CAF6D"/>
                </a:solidFill>
                <a:latin typeface="Trebuchet MS"/>
              </a:rPr>
              <a:t>□  </a:t>
            </a:r>
            <a:r>
              <a:rPr sz="1400">
                <a:solidFill>
                  <a:srgbClr val="22303F"/>
                </a:solidFill>
                <a:latin typeface="Trebuchet MS"/>
              </a:rPr>
              <a:t>Toiletries, moisturizer, sun cream, lip balm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86400"/>
            <a:ext cx="10607040" cy="77724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0DC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B5790C"/>
                </a:solidFill>
                <a:latin typeface="Trebuchet MS"/>
              </a:rPr>
              <a:t>Compulsory:  mosquito repellent cream (Odomos)  ·  dry, healthy snacks for the train journey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WHAT WE NEED FROM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22303F"/>
                </a:solidFill>
                <a:latin typeface="Trebuchet MS"/>
              </a:rPr>
              <a:t>Key 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0607040" cy="105156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0DC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82296" cy="1051560"/>
          </a:xfrm>
          <a:prstGeom prst="rect">
            <a:avLst/>
          </a:prstGeom>
          <a:solidFill>
            <a:srgbClr val="FF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5790C"/>
                </a:solidFill>
                <a:latin typeface="Trebuchet MS"/>
              </a:rPr>
              <a:t>1 SEPTEMBER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79192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2303F"/>
                </a:solidFill>
                <a:latin typeface="Trebuchet MS"/>
              </a:rPr>
              <a:t>Submit signed consent 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10607040" cy="105156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0DC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429000"/>
            <a:ext cx="82296" cy="1051560"/>
          </a:xfrm>
          <a:prstGeom prst="rect">
            <a:avLst/>
          </a:prstGeom>
          <a:solidFill>
            <a:srgbClr val="FF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5790C"/>
                </a:solidFill>
                <a:latin typeface="Trebuchet MS"/>
              </a:rPr>
              <a:t>5 SEPTEMBER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59352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2303F"/>
                </a:solidFill>
                <a:latin typeface="Trebuchet MS"/>
              </a:rPr>
              <a:t>Submit purchase form and trip fee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9160"/>
            <a:ext cx="10607040" cy="105156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0DC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709160"/>
            <a:ext cx="82296" cy="1051560"/>
          </a:xfrm>
          <a:prstGeom prst="rect">
            <a:avLst/>
          </a:prstGeom>
          <a:solidFill>
            <a:srgbClr val="FF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892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B5790C"/>
                </a:solidFill>
                <a:latin typeface="Trebuchet MS"/>
              </a:rPr>
              <a:t>10 SEPTEMBER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39512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2303F"/>
                </a:solidFill>
                <a:latin typeface="Trebuchet MS"/>
              </a:rPr>
              <a:t>Submit medical declaration and ID copies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6C0B0"/>
                </a:solidFill>
                <a:latin typeface="Trebuchet MS"/>
              </a:rPr>
              <a:t>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22303F"/>
                </a:solidFill>
                <a:latin typeface="Trebuchet MS"/>
              </a:rPr>
              <a:t>Who to contact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070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67066"/>
                </a:solidFill>
                <a:latin typeface="Trebuchet MS"/>
              </a:rPr>
              <a:t>TRIP COORDINATOR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368296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2303F"/>
                </a:solidFill>
                <a:latin typeface="Trebuchet MS"/>
              </a:rPr>
              <a:t>Ms. Anjali Desai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67066"/>
                </a:solidFill>
                <a:latin typeface="Trebuchet MS"/>
              </a:rPr>
              <a:t>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054096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2303F"/>
                </a:solidFill>
                <a:latin typeface="Trebuchet MS"/>
              </a:rPr>
              <a:t>+91 98200 11223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947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67066"/>
                </a:solidFill>
                <a:latin typeface="Trebuchet MS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739896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2303F"/>
                </a:solidFill>
                <a:latin typeface="Trebuchet MS"/>
              </a:rPr>
              <a:t>trips.grade7@example.edu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805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67066"/>
                </a:solidFill>
                <a:latin typeface="Trebuchet MS"/>
              </a:rPr>
              <a:t>EMERGENCY (24×7 TRIP DESK)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425696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2303F"/>
                </a:solidFill>
                <a:latin typeface="Trebuchet MS"/>
              </a:rPr>
              <a:t>+91 98200 99887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67066"/>
                </a:solidFill>
                <a:latin typeface="Trebuchet MS"/>
              </a:rPr>
              <a:t>Everything in this deck also lives on the Trip Explorer site, where it stays up to date.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767066"/>
                </a:solidFill>
                <a:latin typeface="Trebuchet MS"/>
              </a:rPr>
              <a:t>Sign in there with the email address or mobile number the school has on record for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