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822960"/>
            <a:ext cx="10607040" cy="5212080"/>
          </a:xfrm>
          <a:prstGeom prst="roundRect">
            <a:avLst>
              <a:gd name="adj" fmla="val 5000"/>
            </a:avLst>
          </a:prstGeom>
          <a:solidFill>
            <a:srgbClr val="26C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Trebuchet MS"/>
              </a:rPr>
              <a:t>SETUP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5097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>
                <a:solidFill>
                  <a:srgbClr val="FFFFFF"/>
                </a:solidFill>
                <a:latin typeface="Trebuchet MS"/>
              </a:rPr>
              <a:t>Trip Explorer</a:t>
            </a:r>
          </a:p>
          <a:p>
            <a:pPr algn="l">
              <a:lnSpc>
                <a:spcPct val="110000"/>
              </a:lnSpc>
            </a:pPr>
            <a:r>
              <a:rPr sz="4200" b="1">
                <a:solidFill>
                  <a:srgbClr val="FFFFFF"/>
                </a:solidFill>
                <a:latin typeface="Trebuchet MS"/>
              </a:rPr>
              <a:t>What we need from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75488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FFFFFF"/>
                </a:solidFill>
                <a:latin typeface="Trebuchet MS"/>
              </a:rPr>
              <a:t>One Drive folder. Eight spreadsheets. One link.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6C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6C0B0"/>
                </a:solidFill>
                <a:latin typeface="Trebuchet MS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100" b="1">
                <a:solidFill>
                  <a:srgbClr val="22303F"/>
                </a:solidFill>
                <a:latin typeface="Trebuchet MS"/>
              </a:rPr>
              <a:t>The whole setup, in four steps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11680"/>
            <a:ext cx="10607040" cy="868680"/>
          </a:xfrm>
          <a:prstGeom prst="roundRect">
            <a:avLst>
              <a:gd name="adj" fmla="val 6000"/>
            </a:avLst>
          </a:prstGeom>
          <a:solidFill>
            <a:srgbClr val="E6F1FB"/>
          </a:solidFill>
          <a:ln w="12700">
            <a:solidFill>
              <a:srgbClr val="2AA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231136"/>
            <a:ext cx="438912" cy="438912"/>
          </a:xfrm>
          <a:prstGeom prst="ellipse">
            <a:avLst/>
          </a:prstGeom>
          <a:solidFill>
            <a:srgbClr val="2AA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86000"/>
            <a:ext cx="438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258568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0C447C"/>
                </a:solidFill>
                <a:latin typeface="Trebuchet MS"/>
              </a:rPr>
              <a:t>Name the eight spreadsheets exactly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035808"/>
            <a:ext cx="10607040" cy="868680"/>
          </a:xfrm>
          <a:prstGeom prst="roundRect">
            <a:avLst>
              <a:gd name="adj" fmla="val 6000"/>
            </a:avLst>
          </a:prstGeom>
          <a:solidFill>
            <a:srgbClr val="E6F1FB"/>
          </a:solidFill>
          <a:ln w="12700">
            <a:solidFill>
              <a:srgbClr val="2AA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7280" y="3255264"/>
            <a:ext cx="438912" cy="438912"/>
          </a:xfrm>
          <a:prstGeom prst="ellipse">
            <a:avLst/>
          </a:prstGeom>
          <a:solidFill>
            <a:srgbClr val="2AA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310128"/>
            <a:ext cx="438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282696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0C447C"/>
                </a:solidFill>
                <a:latin typeface="Trebuchet MS"/>
              </a:rPr>
              <a:t>Put them in one Drive folder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059936"/>
            <a:ext cx="10607040" cy="868680"/>
          </a:xfrm>
          <a:prstGeom prst="roundRect">
            <a:avLst>
              <a:gd name="adj" fmla="val 6000"/>
            </a:avLst>
          </a:prstGeom>
          <a:solidFill>
            <a:srgbClr val="E6F1FB"/>
          </a:solidFill>
          <a:ln w="12700">
            <a:solidFill>
              <a:srgbClr val="2AA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97280" y="4279392"/>
            <a:ext cx="438912" cy="438912"/>
          </a:xfrm>
          <a:prstGeom prst="ellipse">
            <a:avLst/>
          </a:prstGeom>
          <a:solidFill>
            <a:srgbClr val="2AA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334256"/>
            <a:ext cx="438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306824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0C447C"/>
                </a:solidFill>
                <a:latin typeface="Trebuchet MS"/>
              </a:rPr>
              <a:t>Share the folder, copy its link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084064"/>
            <a:ext cx="10607040" cy="868680"/>
          </a:xfrm>
          <a:prstGeom prst="roundRect">
            <a:avLst>
              <a:gd name="adj" fmla="val 6000"/>
            </a:avLst>
          </a:prstGeom>
          <a:solidFill>
            <a:srgbClr val="FFF8E8"/>
          </a:solidFill>
          <a:ln w="12700">
            <a:solidFill>
              <a:srgbClr val="FFB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7280" y="5303520"/>
            <a:ext cx="438912" cy="438912"/>
          </a:xfrm>
          <a:prstGeom prst="ellipse">
            <a:avLst/>
          </a:prstGeom>
          <a:solidFill>
            <a:srgbClr val="FF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358384"/>
            <a:ext cx="438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Trebuchet M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330952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B5790C"/>
                </a:solidFill>
                <a:latin typeface="Trebuchet MS"/>
              </a:rPr>
              <a:t>Send us that one link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26364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767066"/>
                </a:solidFill>
                <a:latin typeface="Trebuchet MS"/>
              </a:rPr>
              <a:t>After that, everything you change in the sheets appears on the website. No developer needed.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A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AA8DE"/>
                </a:solidFill>
                <a:latin typeface="Trebuchet MS"/>
              </a:rPr>
              <a:t>STEP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100" b="1">
                <a:solidFill>
                  <a:srgbClr val="22303F"/>
                </a:solidFill>
                <a:latin typeface="Trebuchet MS"/>
              </a:rPr>
              <a:t>Name the spreadsheets exactly like this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65960"/>
            <a:ext cx="2468880" cy="868680"/>
          </a:xfrm>
          <a:prstGeom prst="roundRect">
            <a:avLst>
              <a:gd name="adj" fmla="val 6000"/>
            </a:avLst>
          </a:prstGeom>
          <a:solidFill>
            <a:srgbClr val="E6F1FB"/>
          </a:solidFill>
          <a:ln w="12700">
            <a:solidFill>
              <a:srgbClr val="2AA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21992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0C447C"/>
                </a:solidFill>
                <a:latin typeface="Trebuchet MS"/>
              </a:rPr>
              <a:t>Students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965960"/>
            <a:ext cx="2468880" cy="868680"/>
          </a:xfrm>
          <a:prstGeom prst="roundRect">
            <a:avLst>
              <a:gd name="adj" fmla="val 6000"/>
            </a:avLst>
          </a:prstGeom>
          <a:solidFill>
            <a:srgbClr val="E6F1FB"/>
          </a:solidFill>
          <a:ln w="12700">
            <a:solidFill>
              <a:srgbClr val="2AA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2221992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0C447C"/>
                </a:solidFill>
                <a:latin typeface="Trebuchet MS"/>
              </a:rPr>
              <a:t>Trips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965960"/>
            <a:ext cx="2468880" cy="868680"/>
          </a:xfrm>
          <a:prstGeom prst="roundRect">
            <a:avLst>
              <a:gd name="adj" fmla="val 6000"/>
            </a:avLst>
          </a:prstGeom>
          <a:solidFill>
            <a:srgbClr val="E6F1FB"/>
          </a:solidFill>
          <a:ln w="12700">
            <a:solidFill>
              <a:srgbClr val="2AA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2221992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0C447C"/>
                </a:solidFill>
                <a:latin typeface="Trebuchet MS"/>
              </a:rPr>
              <a:t>Itinerary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0" y="1965960"/>
            <a:ext cx="2468880" cy="868680"/>
          </a:xfrm>
          <a:prstGeom prst="roundRect">
            <a:avLst>
              <a:gd name="adj" fmla="val 6000"/>
            </a:avLst>
          </a:prstGeom>
          <a:solidFill>
            <a:srgbClr val="E6F1FB"/>
          </a:solidFill>
          <a:ln w="12700">
            <a:solidFill>
              <a:srgbClr val="2AA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2221992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0C447C"/>
                </a:solidFill>
                <a:latin typeface="Trebuchet MS"/>
              </a:rPr>
              <a:t>Documents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017520"/>
            <a:ext cx="2468880" cy="868680"/>
          </a:xfrm>
          <a:prstGeom prst="roundRect">
            <a:avLst>
              <a:gd name="adj" fmla="val 6000"/>
            </a:avLst>
          </a:prstGeom>
          <a:solidFill>
            <a:srgbClr val="E6F1FB"/>
          </a:solidFill>
          <a:ln w="12700">
            <a:solidFill>
              <a:srgbClr val="2AA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273552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0C447C"/>
                </a:solidFill>
                <a:latin typeface="Trebuchet MS"/>
              </a:rPr>
              <a:t>Guidelines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3017520"/>
            <a:ext cx="2468880" cy="868680"/>
          </a:xfrm>
          <a:prstGeom prst="roundRect">
            <a:avLst>
              <a:gd name="adj" fmla="val 6000"/>
            </a:avLst>
          </a:prstGeom>
          <a:solidFill>
            <a:srgbClr val="E6F1FB"/>
          </a:solidFill>
          <a:ln w="12700">
            <a:solidFill>
              <a:srgbClr val="2AA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3273552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0C447C"/>
                </a:solidFill>
                <a:latin typeface="Trebuchet MS"/>
              </a:rPr>
              <a:t>Reminders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017520"/>
            <a:ext cx="2468880" cy="868680"/>
          </a:xfrm>
          <a:prstGeom prst="roundRect">
            <a:avLst>
              <a:gd name="adj" fmla="val 6000"/>
            </a:avLst>
          </a:prstGeom>
          <a:solidFill>
            <a:srgbClr val="E6F1FB"/>
          </a:solidFill>
          <a:ln w="12700">
            <a:solidFill>
              <a:srgbClr val="2AA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3273552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0C447C"/>
                </a:solidFill>
                <a:latin typeface="Trebuchet MS"/>
              </a:rPr>
              <a:t>Travel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3017520"/>
            <a:ext cx="2468880" cy="868680"/>
          </a:xfrm>
          <a:prstGeom prst="roundRect">
            <a:avLst>
              <a:gd name="adj" fmla="val 6000"/>
            </a:avLst>
          </a:prstGeom>
          <a:solidFill>
            <a:srgbClr val="E6F1FB"/>
          </a:solidFill>
          <a:ln w="12700">
            <a:solidFill>
              <a:srgbClr val="2AA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3273552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0C447C"/>
                </a:solidFill>
                <a:latin typeface="Trebuchet MS"/>
              </a:rPr>
              <a:t>Media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297680"/>
            <a:ext cx="10607040" cy="1737360"/>
          </a:xfrm>
          <a:prstGeom prst="roundRect">
            <a:avLst>
              <a:gd name="adj" fmla="val 6000"/>
            </a:avLst>
          </a:prstGeom>
          <a:solidFill>
            <a:srgbClr val="FCEBEB"/>
          </a:solidFill>
          <a:ln w="1270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45262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A32D2D"/>
                </a:solidFill>
                <a:latin typeface="Trebuchet MS"/>
              </a:rPr>
              <a:t>The name is how we find each sheet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937760"/>
            <a:ext cx="987552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50" b="1">
                <a:solidFill>
                  <a:srgbClr val="FF6B5B"/>
                </a:solidFill>
                <a:latin typeface="Trebuchet MS"/>
              </a:rPr>
              <a:t>•  </a:t>
            </a:r>
            <a:r>
              <a:rPr sz="1350">
                <a:solidFill>
                  <a:srgbClr val="22303F"/>
                </a:solidFill>
                <a:latin typeface="Trebuchet MS"/>
              </a:rPr>
              <a:t>All plural. Never Student, Document or Reminder.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50" b="1">
                <a:solidFill>
                  <a:srgbClr val="FF6B5B"/>
                </a:solidFill>
                <a:latin typeface="Trebuchet MS"/>
              </a:rPr>
              <a:t>•  </a:t>
            </a:r>
            <a:r>
              <a:rPr sz="1350">
                <a:solidFill>
                  <a:srgbClr val="22303F"/>
                </a:solidFill>
                <a:latin typeface="Trebuchet MS"/>
              </a:rPr>
              <a:t>Extra words are fine — "Grade 7 Itinerary 2026" still works. Two files matching the same name do not.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50" b="1">
                <a:solidFill>
                  <a:srgbClr val="FF6B5B"/>
                </a:solidFill>
                <a:latin typeface="Trebuchet MS"/>
              </a:rPr>
              <a:t>•  </a:t>
            </a:r>
            <a:r>
              <a:rPr sz="1350">
                <a:solidFill>
                  <a:srgbClr val="22303F"/>
                </a:solidFill>
                <a:latin typeface="Trebuchet MS"/>
              </a:rPr>
              <a:t>Each must be a Google Sheet. An uploaded .xlsx must be opened and saved as a Google Sheet.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A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AA8DE"/>
                </a:solidFill>
                <a:latin typeface="Trebuchet MS"/>
              </a:rPr>
              <a:t>STEP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100" b="1">
                <a:solidFill>
                  <a:srgbClr val="22303F"/>
                </a:solidFill>
                <a:latin typeface="Trebuchet MS"/>
              </a:rPr>
              <a:t>Put everything in one folder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65960"/>
            <a:ext cx="512064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2402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22303F"/>
                </a:solidFill>
                <a:latin typeface="Trebuchet MS"/>
              </a:rPr>
              <a:t>School Trips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743200"/>
            <a:ext cx="45720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767066"/>
                </a:solidFill>
                <a:latin typeface="Consolas"/>
              </a:rPr>
              <a:t>Students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767066"/>
                </a:solidFill>
                <a:latin typeface="Consolas"/>
              </a:rPr>
              <a:t>Trips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767066"/>
                </a:solidFill>
                <a:latin typeface="Consolas"/>
              </a:rPr>
              <a:t>Itinerary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767066"/>
                </a:solidFill>
                <a:latin typeface="Consolas"/>
              </a:rPr>
              <a:t>Documents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767066"/>
                </a:solidFill>
                <a:latin typeface="Consolas"/>
              </a:rPr>
              <a:t>Guidelines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767066"/>
                </a:solidFill>
                <a:latin typeface="Consolas"/>
              </a:rPr>
              <a:t>Reminders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767066"/>
                </a:solidFill>
                <a:latin typeface="Consolas"/>
              </a:rPr>
              <a:t>Travel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767066"/>
                </a:solidFill>
                <a:latin typeface="Consolas"/>
              </a:rPr>
              <a:t>Media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965960"/>
            <a:ext cx="512064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2402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22303F"/>
                </a:solidFill>
                <a:latin typeface="Trebuchet MS"/>
              </a:rPr>
              <a:t>…and a folder per grade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743200"/>
            <a:ext cx="45720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767066"/>
                </a:solidFill>
                <a:latin typeface="Consolas"/>
              </a:rPr>
              <a:t>Grade 7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767066"/>
                </a:solidFill>
                <a:latin typeface="Consolas"/>
              </a:rPr>
              <a:t>Grade 9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767066"/>
                </a:solidFill>
                <a:latin typeface="Consolas"/>
              </a:rPr>
              <a:t>Grade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4206240"/>
            <a:ext cx="45720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67066"/>
                </a:solidFill>
                <a:latin typeface="Trebuchet MS"/>
              </a:rPr>
              <a:t>Orientation decks, posters and photos go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767066"/>
                </a:solidFill>
                <a:latin typeface="Trebuchet MS"/>
              </a:rPr>
              <a:t>in these. Link them from the Documents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767066"/>
                </a:solidFill>
                <a:latin typeface="Trebuchet MS"/>
              </a:rPr>
              <a:t>sheet — or paste the folder link once and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767066"/>
                </a:solidFill>
                <a:latin typeface="Trebuchet MS"/>
              </a:rPr>
              <a:t>every file in it appears.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FB100"/>
                </a:solidFill>
                <a:latin typeface="Trebuchet MS"/>
              </a:rPr>
              <a:t>STEP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100" b="1">
                <a:solidFill>
                  <a:srgbClr val="22303F"/>
                </a:solidFill>
                <a:latin typeface="Trebuchet MS"/>
              </a:rPr>
              <a:t>Sharing — please treat as two jobs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11680"/>
            <a:ext cx="10607040" cy="1417320"/>
          </a:xfrm>
          <a:prstGeom prst="roundRect">
            <a:avLst>
              <a:gd name="adj" fmla="val 6000"/>
            </a:avLst>
          </a:prstGeom>
          <a:solidFill>
            <a:srgbClr val="FFF8E8"/>
          </a:solidFill>
          <a:ln w="12700">
            <a:solidFill>
              <a:srgbClr val="FFB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40280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B5790C"/>
                </a:solidFill>
                <a:latin typeface="Trebuchet MS"/>
              </a:rPr>
              <a:t>The folder and every spreadsheet in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697480"/>
            <a:ext cx="9692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22303F"/>
                </a:solidFill>
                <a:latin typeface="Trebuchet MS"/>
              </a:rPr>
              <a:t>Anyone with the link → Viewer. Without this the website reads nothing at all.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703320"/>
            <a:ext cx="10607040" cy="1417320"/>
          </a:xfrm>
          <a:prstGeom prst="roundRect">
            <a:avLst>
              <a:gd name="adj" fmla="val 6000"/>
            </a:avLst>
          </a:prstGeom>
          <a:solidFill>
            <a:srgbClr val="FFF8E8"/>
          </a:solidFill>
          <a:ln w="12700">
            <a:solidFill>
              <a:srgbClr val="FFB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931920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B5790C"/>
                </a:solidFill>
                <a:latin typeface="Trebuchet MS"/>
              </a:rPr>
              <a:t>Each document you want previewed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389120"/>
            <a:ext cx="9692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22303F"/>
                </a:solidFill>
                <a:latin typeface="Trebuchet MS"/>
              </a:rPr>
              <a:t>Same setting. A private document still opens for those who have access — it just shows a plain tile instead of a picture.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440680"/>
            <a:ext cx="10607040" cy="914400"/>
          </a:xfrm>
          <a:prstGeom prst="roundRect">
            <a:avLst>
              <a:gd name="adj" fmla="val 6000"/>
            </a:avLst>
          </a:prstGeom>
          <a:solidFill>
            <a:srgbClr val="FCEBEB"/>
          </a:solidFill>
          <a:ln w="1270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5669280"/>
            <a:ext cx="9875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A32D2D"/>
                </a:solidFill>
                <a:latin typeface="Trebuchet MS"/>
              </a:rPr>
              <a:t>Before using real family data, please read the privacy note we sent — the student list becomes publicly readable.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F6B5B"/>
                </a:solidFill>
                <a:latin typeface="Trebuchet MS"/>
              </a:rPr>
              <a:t>WORTH KNOWING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100" b="1">
                <a:solidFill>
                  <a:srgbClr val="22303F"/>
                </a:solidFill>
                <a:latin typeface="Trebuchet MS"/>
              </a:rPr>
              <a:t>What quietly breaks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65960"/>
            <a:ext cx="10607040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65960"/>
            <a:ext cx="73152" cy="786384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185416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>
                <a:solidFill>
                  <a:srgbClr val="22303F"/>
                </a:solidFill>
                <a:latin typeface="Trebuchet MS"/>
              </a:rPr>
              <a:t>A sheet renamed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203704"/>
            <a:ext cx="6583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67066"/>
                </a:solidFill>
                <a:latin typeface="Trebuchet MS"/>
              </a:rPr>
              <a:t>That whole section disappears, with no error anywhere.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862072"/>
            <a:ext cx="10607040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862072"/>
            <a:ext cx="73152" cy="786384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081528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>
                <a:solidFill>
                  <a:srgbClr val="22303F"/>
                </a:solidFill>
                <a:latin typeface="Trebuchet MS"/>
              </a:rPr>
              <a:t>A grade spelled differently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099816"/>
            <a:ext cx="6583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67066"/>
                </a:solidFill>
                <a:latin typeface="Trebuchet MS"/>
              </a:rPr>
              <a:t>"Grade Seven" or "7th std" — that row vanishes. Use the dropdown.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758184"/>
            <a:ext cx="10607040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758184"/>
            <a:ext cx="73152" cy="786384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397764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>
                <a:solidFill>
                  <a:srgbClr val="22303F"/>
                </a:solidFill>
                <a:latin typeface="Trebuchet MS"/>
              </a:rPr>
              <a:t>An .xlsx never converted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995928"/>
            <a:ext cx="6583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67066"/>
                </a:solidFill>
                <a:latin typeface="Trebuchet MS"/>
              </a:rPr>
              <a:t>Upload alone is not enough. Open it, File → Save as Google Sheets.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654296"/>
            <a:ext cx="10607040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4654296"/>
            <a:ext cx="73152" cy="786384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4873752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>
                <a:solidFill>
                  <a:srgbClr val="22303F"/>
                </a:solidFill>
                <a:latin typeface="Trebuchet MS"/>
              </a:rPr>
              <a:t>Two files with similar names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892040"/>
            <a:ext cx="6583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67066"/>
                </a:solidFill>
                <a:latin typeface="Trebuchet MS"/>
              </a:rPr>
              <a:t>"Winter Trips" and "Summer Trips" both match Trips, so neither is used.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550408"/>
            <a:ext cx="10607040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550408"/>
            <a:ext cx="73152" cy="786384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5769864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>
                <a:solidFill>
                  <a:srgbClr val="22303F"/>
                </a:solidFill>
                <a:latin typeface="Trebuchet MS"/>
              </a:rPr>
              <a:t>A parent with no email and no phone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788152"/>
            <a:ext cx="6583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67066"/>
                </a:solidFill>
                <a:latin typeface="Trebuchet MS"/>
              </a:rPr>
              <a:t>That child becomes invisible to everyone.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6C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6C0B0"/>
                </a:solidFill>
                <a:latin typeface="Trebuchet MS"/>
              </a:rPr>
              <a:t>STEP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100" b="1">
                <a:solidFill>
                  <a:srgbClr val="22303F"/>
                </a:solidFill>
                <a:latin typeface="Trebuchet MS"/>
              </a:rPr>
              <a:t>What to send 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65960"/>
            <a:ext cx="10607040" cy="2286000"/>
          </a:xfrm>
          <a:prstGeom prst="roundRect">
            <a:avLst>
              <a:gd name="adj" fmla="val 6000"/>
            </a:avLst>
          </a:prstGeom>
          <a:solidFill>
            <a:srgbClr val="E1F5EE"/>
          </a:solidFill>
          <a:ln w="12700">
            <a:solidFill>
              <a:srgbClr val="26C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0F6E56"/>
                </a:solidFill>
                <a:latin typeface="Trebuchet MS"/>
              </a:rPr>
              <a:t>One link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880360"/>
            <a:ext cx="9875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1D9E75"/>
                </a:solidFill>
                <a:latin typeface="Consolas"/>
              </a:rPr>
              <a:t>https://drive.google.com/drive/folders/…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474720"/>
            <a:ext cx="9875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22303F"/>
                </a:solidFill>
                <a:latin typeface="Trebuchet MS"/>
              </a:rPr>
              <a:t>That is the entire configuration. Everything else is reached through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572000"/>
            <a:ext cx="1005840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400" b="1">
                <a:solidFill>
                  <a:srgbClr val="26C0B0"/>
                </a:solidFill>
                <a:latin typeface="Trebuchet MS"/>
              </a:rPr>
              <a:t>•  </a:t>
            </a:r>
            <a:r>
              <a:rPr sz="1400">
                <a:solidFill>
                  <a:srgbClr val="22303F"/>
                </a:solidFill>
                <a:latin typeface="Trebuchet MS"/>
              </a:rPr>
              <a:t>Confirmation that the folder and its sheets are shared with Anyone with the link → Viewer.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400" b="1">
                <a:solidFill>
                  <a:srgbClr val="26C0B0"/>
                </a:solidFill>
                <a:latin typeface="Trebuchet MS"/>
              </a:rPr>
              <a:t>•  </a:t>
            </a:r>
            <a:r>
              <a:rPr sz="1400">
                <a:solidFill>
                  <a:srgbClr val="22303F"/>
                </a:solidFill>
                <a:latin typeface="Trebuchet MS"/>
              </a:rPr>
              <a:t>Which grades are in scope for the first launch.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400" b="1">
                <a:solidFill>
                  <a:srgbClr val="26C0B0"/>
                </a:solidFill>
                <a:latin typeface="Trebuchet MS"/>
              </a:rPr>
              <a:t>•  </a:t>
            </a:r>
            <a:r>
              <a:rPr sz="1400">
                <a:solidFill>
                  <a:srgbClr val="22303F"/>
                </a:solidFill>
                <a:latin typeface="Trebuchet MS"/>
              </a:rPr>
              <a:t>Your answers to the open questions: privacy, how parents sign in, and whether "Father" should read "Parent".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